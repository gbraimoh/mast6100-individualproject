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83F4-09EA-918C-0757-2FEF5FEDE3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288B58B-2072-C7D8-A735-640340DD0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B7D40D6-A79C-9085-4EA9-1615DFA342C4}"/>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5" name="Footer Placeholder 4">
            <a:extLst>
              <a:ext uri="{FF2B5EF4-FFF2-40B4-BE49-F238E27FC236}">
                <a16:creationId xmlns:a16="http://schemas.microsoft.com/office/drawing/2014/main" id="{5BAB4675-54BF-3971-F76D-A6BA504596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F265C4-EDA2-41CA-D1AE-301FAFC7A04A}"/>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3342820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C080-C4CA-1758-33D1-4D340A3987A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55F6296-8745-E9DF-A8DF-B994E34192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38B0FC-CCDF-491E-26CB-2A8E3BD30169}"/>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5" name="Footer Placeholder 4">
            <a:extLst>
              <a:ext uri="{FF2B5EF4-FFF2-40B4-BE49-F238E27FC236}">
                <a16:creationId xmlns:a16="http://schemas.microsoft.com/office/drawing/2014/main" id="{B7C80BCB-90D4-D9A8-3302-6844EAF737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F62C23-7992-E3C3-6DA2-387133E5EDD2}"/>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2367950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C20F9-1E5E-C662-37FA-FBED61E252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2380226-B26E-2C1C-683C-8B085C56AD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7A623F-8D9B-5251-A16A-8D36504DEEB7}"/>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5" name="Footer Placeholder 4">
            <a:extLst>
              <a:ext uri="{FF2B5EF4-FFF2-40B4-BE49-F238E27FC236}">
                <a16:creationId xmlns:a16="http://schemas.microsoft.com/office/drawing/2014/main" id="{A5B40BBB-E568-55D7-EF7C-3F1A7B49FEC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24533C-7E81-8316-B1B0-0B735705E55D}"/>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3229557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4C2DE-3B5E-E5A5-6150-274265A82F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42195DA-5555-956C-2F9E-B88E561D50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94A2B78-0F0E-D408-1384-145B1E2989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32CC327-489F-AE8F-2557-29431DCA6992}"/>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6" name="Footer Placeholder 5">
            <a:extLst>
              <a:ext uri="{FF2B5EF4-FFF2-40B4-BE49-F238E27FC236}">
                <a16:creationId xmlns:a16="http://schemas.microsoft.com/office/drawing/2014/main" id="{F3E382A2-32EB-39D8-96B6-7BDD8E9BB7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FE4B64-54DC-6033-0B34-EB048F02FCF6}"/>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951981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12AA3-0B5E-7AEE-55FD-391DAA96248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7A2AFF-F748-BCBE-50DD-7D2320CB08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9BBBFB-D9B0-8A8F-8F85-2B6FED4220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E6B8980-DC2E-E86A-57B3-33AEEFF2BC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D16ED4-FDEB-42FA-8826-291DDABA0B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E626267-9792-B891-A15A-6F3CAA4D882F}"/>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8" name="Footer Placeholder 7">
            <a:extLst>
              <a:ext uri="{FF2B5EF4-FFF2-40B4-BE49-F238E27FC236}">
                <a16:creationId xmlns:a16="http://schemas.microsoft.com/office/drawing/2014/main" id="{98E98B79-6208-645F-47F1-6CE900CD1BA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175495C-4638-BA25-B171-EC8589F545D4}"/>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2118610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C9483-BE6D-A262-D67D-F73AA9F931C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DA66DD2-2391-B651-65F2-3529BC8D776E}"/>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4" name="Footer Placeholder 3">
            <a:extLst>
              <a:ext uri="{FF2B5EF4-FFF2-40B4-BE49-F238E27FC236}">
                <a16:creationId xmlns:a16="http://schemas.microsoft.com/office/drawing/2014/main" id="{1145BA4B-5160-4A69-FF65-3C9760779B1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28C1287-C974-D871-428F-D31851700545}"/>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3689955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F0F3-1689-19A0-5A8C-84A0679A0894}"/>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3" name="Footer Placeholder 2">
            <a:extLst>
              <a:ext uri="{FF2B5EF4-FFF2-40B4-BE49-F238E27FC236}">
                <a16:creationId xmlns:a16="http://schemas.microsoft.com/office/drawing/2014/main" id="{C9EF6DFD-D9BB-4FC5-7CF9-C10285EAE45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B4DD563-C070-6925-C344-51343E5B863B}"/>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182190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500C0-0252-F240-8811-CF454AA65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B25FAF7-BDFC-8A3D-CABA-B9FEBECEEA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355D1C9-D55B-9C69-81F6-9C5F13974C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61EDA3-16FF-C83A-9404-6BEC6B7189A7}"/>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6" name="Footer Placeholder 5">
            <a:extLst>
              <a:ext uri="{FF2B5EF4-FFF2-40B4-BE49-F238E27FC236}">
                <a16:creationId xmlns:a16="http://schemas.microsoft.com/office/drawing/2014/main" id="{73102475-0F01-829B-A087-F9D81A9CBAE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FF55986-3D47-30A4-FBCF-C59C5EE1F2D8}"/>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2349710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22C09-C090-888F-3C3B-83B8BA4A20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CAA8BE0-0136-E6B5-5F2C-600605C623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C0B78A4-6BF6-BD10-5E0B-AD38603AD2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1F99A4-6601-8DB6-F13C-272DAF05A1BB}"/>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6" name="Footer Placeholder 5">
            <a:extLst>
              <a:ext uri="{FF2B5EF4-FFF2-40B4-BE49-F238E27FC236}">
                <a16:creationId xmlns:a16="http://schemas.microsoft.com/office/drawing/2014/main" id="{ED8E25A0-C54B-3C5F-3283-B80635DEC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413849-7659-EF4C-AE0F-92E19D02A834}"/>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2281801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14282-0380-AE27-8007-31FFD7EC354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367F39-61E6-418A-28D5-DE2168DA26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4BBFE1D-FD06-720A-11D5-9C9B3B97F422}"/>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5" name="Footer Placeholder 4">
            <a:extLst>
              <a:ext uri="{FF2B5EF4-FFF2-40B4-BE49-F238E27FC236}">
                <a16:creationId xmlns:a16="http://schemas.microsoft.com/office/drawing/2014/main" id="{99F86663-2A5D-95A5-10B5-C3424A0275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B63026-753D-B33B-9AED-594B43D09F70}"/>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344131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637BBF-44A9-3A87-C9FE-BA17E2BB01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E1ACE58-5DA6-7F69-EEE6-9554FEB0C3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8DC282D-BF3D-5261-2862-806EE7DA8946}"/>
              </a:ext>
            </a:extLst>
          </p:cNvPr>
          <p:cNvSpPr>
            <a:spLocks noGrp="1"/>
          </p:cNvSpPr>
          <p:nvPr>
            <p:ph type="dt" sz="half" idx="10"/>
          </p:nvPr>
        </p:nvSpPr>
        <p:spPr/>
        <p:txBody>
          <a:bodyPr/>
          <a:lstStyle/>
          <a:p>
            <a:fld id="{B3C615DF-A159-4178-89C4-C86C960FFB0D}" type="datetimeFigureOut">
              <a:rPr lang="en-GB" smtClean="0"/>
              <a:t>19/12/2025</a:t>
            </a:fld>
            <a:endParaRPr lang="en-GB"/>
          </a:p>
        </p:txBody>
      </p:sp>
      <p:sp>
        <p:nvSpPr>
          <p:cNvPr id="5" name="Footer Placeholder 4">
            <a:extLst>
              <a:ext uri="{FF2B5EF4-FFF2-40B4-BE49-F238E27FC236}">
                <a16:creationId xmlns:a16="http://schemas.microsoft.com/office/drawing/2014/main" id="{9E38636D-F007-B6E6-D065-AF9C4936F9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434361-B4ED-1A26-5B4E-F64F1F4AD460}"/>
              </a:ext>
            </a:extLst>
          </p:cNvPr>
          <p:cNvSpPr>
            <a:spLocks noGrp="1"/>
          </p:cNvSpPr>
          <p:nvPr>
            <p:ph type="sldNum" sz="quarter" idx="12"/>
          </p:nvPr>
        </p:nvSpPr>
        <p:spPr/>
        <p:txBody>
          <a:bodyPr/>
          <a:lstStyle/>
          <a:p>
            <a:fld id="{D97A6171-BBCF-4781-8290-CD3795BB5F9A}" type="slidenum">
              <a:rPr lang="en-GB" smtClean="0"/>
              <a:t>‹#›</a:t>
            </a:fld>
            <a:endParaRPr lang="en-GB"/>
          </a:p>
        </p:txBody>
      </p:sp>
    </p:spTree>
    <p:extLst>
      <p:ext uri="{BB962C8B-B14F-4D97-AF65-F5344CB8AC3E}">
        <p14:creationId xmlns:p14="http://schemas.microsoft.com/office/powerpoint/2010/main" val="2661355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55A42E-D007-42BE-7BDE-207BEEF4F0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2A881A-EFD6-02C9-29F7-A7C3F823CA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52EA1D-4B7E-1B31-7F72-22F6B8523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C615DF-A159-4178-89C4-C86C960FFB0D}" type="datetimeFigureOut">
              <a:rPr lang="en-GB" smtClean="0"/>
              <a:t>19/12/2025</a:t>
            </a:fld>
            <a:endParaRPr lang="en-GB"/>
          </a:p>
        </p:txBody>
      </p:sp>
      <p:sp>
        <p:nvSpPr>
          <p:cNvPr id="5" name="Footer Placeholder 4">
            <a:extLst>
              <a:ext uri="{FF2B5EF4-FFF2-40B4-BE49-F238E27FC236}">
                <a16:creationId xmlns:a16="http://schemas.microsoft.com/office/drawing/2014/main" id="{21F75FF1-D27A-C0F3-4504-74885703D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3C14387-3F9C-5519-D8D2-059D389317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7A6171-BBCF-4781-8290-CD3795BB5F9A}" type="slidenum">
              <a:rPr lang="en-GB" smtClean="0"/>
              <a:t>‹#›</a:t>
            </a:fld>
            <a:endParaRPr lang="en-GB"/>
          </a:p>
        </p:txBody>
      </p:sp>
    </p:spTree>
    <p:extLst>
      <p:ext uri="{BB962C8B-B14F-4D97-AF65-F5344CB8AC3E}">
        <p14:creationId xmlns:p14="http://schemas.microsoft.com/office/powerpoint/2010/main" val="1131494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archive.ics.uci.edu/dataset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705F4-17DE-9238-2876-766DBFA925CC}"/>
              </a:ext>
            </a:extLst>
          </p:cNvPr>
          <p:cNvSpPr>
            <a:spLocks noGrp="1"/>
          </p:cNvSpPr>
          <p:nvPr>
            <p:ph type="ctrTitle"/>
          </p:nvPr>
        </p:nvSpPr>
        <p:spPr/>
        <p:txBody>
          <a:bodyPr/>
          <a:lstStyle/>
          <a:p>
            <a:r>
              <a:rPr lang="en-GB" dirty="0"/>
              <a:t>Summarisation of Project</a:t>
            </a:r>
          </a:p>
        </p:txBody>
      </p:sp>
      <p:sp>
        <p:nvSpPr>
          <p:cNvPr id="3" name="Subtitle 2">
            <a:extLst>
              <a:ext uri="{FF2B5EF4-FFF2-40B4-BE49-F238E27FC236}">
                <a16:creationId xmlns:a16="http://schemas.microsoft.com/office/drawing/2014/main" id="{2F111C40-621C-6BAA-2B14-CCF2EC82DBFF}"/>
              </a:ext>
            </a:extLst>
          </p:cNvPr>
          <p:cNvSpPr>
            <a:spLocks noGrp="1"/>
          </p:cNvSpPr>
          <p:nvPr>
            <p:ph type="subTitle" idx="1"/>
          </p:nvPr>
        </p:nvSpPr>
        <p:spPr/>
        <p:txBody>
          <a:bodyPr/>
          <a:lstStyle/>
          <a:p>
            <a:r>
              <a:rPr lang="en-GB" dirty="0"/>
              <a:t>By Godwins Braimoh (GB514)</a:t>
            </a:r>
          </a:p>
        </p:txBody>
      </p:sp>
    </p:spTree>
    <p:extLst>
      <p:ext uri="{BB962C8B-B14F-4D97-AF65-F5344CB8AC3E}">
        <p14:creationId xmlns:p14="http://schemas.microsoft.com/office/powerpoint/2010/main" val="533960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72674-0680-F9D2-D57A-4E2526FF4AA1}"/>
              </a:ext>
            </a:extLst>
          </p:cNvPr>
          <p:cNvSpPr>
            <a:spLocks noGrp="1"/>
          </p:cNvSpPr>
          <p:nvPr>
            <p:ph type="title"/>
          </p:nvPr>
        </p:nvSpPr>
        <p:spPr/>
        <p:txBody>
          <a:bodyPr/>
          <a:lstStyle/>
          <a:p>
            <a:r>
              <a:rPr lang="en-GB" dirty="0"/>
              <a:t>Motivation and Background</a:t>
            </a:r>
          </a:p>
        </p:txBody>
      </p:sp>
      <p:sp>
        <p:nvSpPr>
          <p:cNvPr id="3" name="Content Placeholder 2">
            <a:extLst>
              <a:ext uri="{FF2B5EF4-FFF2-40B4-BE49-F238E27FC236}">
                <a16:creationId xmlns:a16="http://schemas.microsoft.com/office/drawing/2014/main" id="{3CFF36A0-6250-5514-68B3-D0C5710B24E6}"/>
              </a:ext>
            </a:extLst>
          </p:cNvPr>
          <p:cNvSpPr>
            <a:spLocks noGrp="1"/>
          </p:cNvSpPr>
          <p:nvPr>
            <p:ph idx="1"/>
          </p:nvPr>
        </p:nvSpPr>
        <p:spPr/>
        <p:txBody>
          <a:bodyPr>
            <a:normAutofit fontScale="62500" lnSpcReduction="20000"/>
          </a:bodyPr>
          <a:lstStyle/>
          <a:p>
            <a:r>
              <a:rPr lang="en-US" dirty="0"/>
              <a:t>Hospital readmission within 30 days is commonly used as a proxy for healthcare quality because it reflects both patient outcomes and system-level efficiency. In chronic conditions such as diabetes, readmissions are particularly prevalent due to ongoing disease management, medication complexity, and frequent interactions with healthcare services. As a result, diabetic readmissions represent a meaningful and realistic prediction task rather than an artificial modelling exercise.</a:t>
            </a:r>
          </a:p>
          <a:p>
            <a:r>
              <a:rPr lang="en-US" dirty="0"/>
              <a:t>Prior work has shown that predicting readmission is inherently challenging. Using the same UCI diabetic dataset, Strack et al. (2014) demonstrate that routinely collected administrative and treatment variables contain predictive information; however, overall model performance remains limited. </a:t>
            </a:r>
            <a:r>
              <a:rPr lang="en-US" dirty="0" err="1"/>
              <a:t>Donzé</a:t>
            </a:r>
            <a:r>
              <a:rPr lang="en-US" dirty="0"/>
              <a:t> et al. (2017) further show that readmission risk in diabetic patients arises from a combination of clinical burden and patterns of healthcare </a:t>
            </a:r>
            <a:r>
              <a:rPr lang="en-US" dirty="0" err="1"/>
              <a:t>utilisation</a:t>
            </a:r>
            <a:r>
              <a:rPr lang="en-US" dirty="0"/>
              <a:t>, rather than from any single dominant predictor. More recent studies suggest that machine learning methods may capture nonlinear structure in such data, although reported improvements over classical statistical models are modest.</a:t>
            </a:r>
          </a:p>
          <a:p>
            <a:r>
              <a:rPr lang="en-US" dirty="0"/>
              <a:t>These findings directly motivate the approach taken in this project. Rather than focusing on </a:t>
            </a:r>
            <a:r>
              <a:rPr lang="en-US" dirty="0" err="1"/>
              <a:t>maximising</a:t>
            </a:r>
            <a:r>
              <a:rPr lang="en-US" dirty="0"/>
              <a:t> predictive performance alone, the analysis compares classical statistical classifiers and more flexible machine learning models using the same data, preprocessing steps, and evaluation framework. This enables the assessment of whether increased model complexity yields meaningful gains in predicting 30-day readmission in a highly imbalanced, real-world healthcare dataset.</a:t>
            </a:r>
          </a:p>
          <a:p>
            <a:endParaRPr lang="en-GB" dirty="0"/>
          </a:p>
        </p:txBody>
      </p:sp>
    </p:spTree>
    <p:extLst>
      <p:ext uri="{BB962C8B-B14F-4D97-AF65-F5344CB8AC3E}">
        <p14:creationId xmlns:p14="http://schemas.microsoft.com/office/powerpoint/2010/main" val="3504632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D8DED-8771-387A-DCF0-51A5B2A71323}"/>
              </a:ext>
            </a:extLst>
          </p:cNvPr>
          <p:cNvSpPr>
            <a:spLocks noGrp="1"/>
          </p:cNvSpPr>
          <p:nvPr>
            <p:ph type="title"/>
          </p:nvPr>
        </p:nvSpPr>
        <p:spPr/>
        <p:txBody>
          <a:bodyPr/>
          <a:lstStyle/>
          <a:p>
            <a:r>
              <a:rPr lang="en-GB" dirty="0"/>
              <a:t>Research Question</a:t>
            </a:r>
          </a:p>
        </p:txBody>
      </p:sp>
      <p:sp>
        <p:nvSpPr>
          <p:cNvPr id="3" name="Content Placeholder 2">
            <a:extLst>
              <a:ext uri="{FF2B5EF4-FFF2-40B4-BE49-F238E27FC236}">
                <a16:creationId xmlns:a16="http://schemas.microsoft.com/office/drawing/2014/main" id="{885F9343-3339-5FE7-FBEB-061F3D327163}"/>
              </a:ext>
            </a:extLst>
          </p:cNvPr>
          <p:cNvSpPr>
            <a:spLocks noGrp="1"/>
          </p:cNvSpPr>
          <p:nvPr>
            <p:ph idx="1"/>
          </p:nvPr>
        </p:nvSpPr>
        <p:spPr/>
        <p:txBody>
          <a:bodyPr/>
          <a:lstStyle/>
          <a:p>
            <a:r>
              <a:rPr lang="en-US" dirty="0"/>
              <a:t>How accurately can classification models predict whether a diabetic patient will be readmitted to hospital within 30 days using routinely collected hospital encounter data?</a:t>
            </a:r>
          </a:p>
          <a:p>
            <a:r>
              <a:rPr lang="en-US" dirty="0"/>
              <a:t>The analysis also assesses whether more flexible machine learning models provide meaningful improvements over classical statistical classifiers in this setting.</a:t>
            </a:r>
          </a:p>
          <a:p>
            <a:endParaRPr lang="en-GB" dirty="0"/>
          </a:p>
        </p:txBody>
      </p:sp>
    </p:spTree>
    <p:extLst>
      <p:ext uri="{BB962C8B-B14F-4D97-AF65-F5344CB8AC3E}">
        <p14:creationId xmlns:p14="http://schemas.microsoft.com/office/powerpoint/2010/main" val="30751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76FD3-E26B-ECB5-3C34-F3DAE07EC8AE}"/>
              </a:ext>
            </a:extLst>
          </p:cNvPr>
          <p:cNvSpPr>
            <a:spLocks noGrp="1"/>
          </p:cNvSpPr>
          <p:nvPr>
            <p:ph type="title"/>
          </p:nvPr>
        </p:nvSpPr>
        <p:spPr/>
        <p:txBody>
          <a:bodyPr/>
          <a:lstStyle/>
          <a:p>
            <a:r>
              <a:rPr lang="en-GB" dirty="0"/>
              <a:t>Overview of the Data</a:t>
            </a:r>
          </a:p>
        </p:txBody>
      </p:sp>
      <p:sp>
        <p:nvSpPr>
          <p:cNvPr id="3" name="Content Placeholder 2">
            <a:extLst>
              <a:ext uri="{FF2B5EF4-FFF2-40B4-BE49-F238E27FC236}">
                <a16:creationId xmlns:a16="http://schemas.microsoft.com/office/drawing/2014/main" id="{EABB1419-AD65-BCF8-A6A4-8C1712FDB506}"/>
              </a:ext>
            </a:extLst>
          </p:cNvPr>
          <p:cNvSpPr>
            <a:spLocks noGrp="1"/>
          </p:cNvSpPr>
          <p:nvPr>
            <p:ph idx="1"/>
          </p:nvPr>
        </p:nvSpPr>
        <p:spPr/>
        <p:txBody>
          <a:bodyPr>
            <a:normAutofit fontScale="77500" lnSpcReduction="20000"/>
          </a:bodyPr>
          <a:lstStyle/>
          <a:p>
            <a:r>
              <a:rPr lang="en-US" dirty="0"/>
              <a:t>The analysis uses the UCI Diabetic Hospital Readmission dataset, which contains 101,766 hospital encounters for diabetic patients admitted to 130 U.S. hospitals between 1999 and 2008. The dataset was accessed via the UCI Machine Learning Repository</a:t>
            </a:r>
            <a:br>
              <a:rPr lang="en-US" dirty="0"/>
            </a:br>
            <a:r>
              <a:rPr lang="en-US" dirty="0"/>
              <a:t>(</a:t>
            </a:r>
            <a:r>
              <a:rPr lang="en-US" dirty="0">
                <a:hlinkClick r:id="rId2"/>
              </a:rPr>
              <a:t>https://archive.ics.uci.edu/datasets</a:t>
            </a:r>
            <a:r>
              <a:rPr lang="en-US" dirty="0"/>
              <a:t>)</a:t>
            </a:r>
            <a:br>
              <a:rPr lang="en-US" dirty="0"/>
            </a:br>
            <a:r>
              <a:rPr lang="en-US" dirty="0"/>
              <a:t>And imported into R from the file </a:t>
            </a:r>
            <a:r>
              <a:rPr lang="en-US" i="1" dirty="0"/>
              <a:t>diabetic_data.csv</a:t>
            </a:r>
            <a:r>
              <a:rPr lang="en-US" dirty="0"/>
              <a:t>.</a:t>
            </a:r>
          </a:p>
          <a:p>
            <a:r>
              <a:rPr lang="en-US" dirty="0"/>
              <a:t>The dataset includes patient demographics, admission and discharge characteristics, counts of laboratory procedures and medications, and prior healthcare </a:t>
            </a:r>
            <a:r>
              <a:rPr lang="en-US" dirty="0" err="1"/>
              <a:t>utilisation</a:t>
            </a:r>
            <a:r>
              <a:rPr lang="en-US" dirty="0"/>
              <a:t>. The original outcome variable records three readmission categories, which were transformed into a binary indicator capturing readmission within 30 days.</a:t>
            </a:r>
          </a:p>
          <a:p>
            <a:r>
              <a:rPr lang="en-US" dirty="0"/>
              <a:t>Several limitations were identified during initial inspection. Missing values were encoded as “?” and required recoding; several variables exhibit very high cardinality, and the outcome variable is highly imbalanced, with approximately 11% of encounters resulting in 30-day readmission. These characteristics directly influence the choice and evaluation of models.</a:t>
            </a:r>
          </a:p>
          <a:p>
            <a:endParaRPr lang="en-GB" dirty="0"/>
          </a:p>
        </p:txBody>
      </p:sp>
    </p:spTree>
    <p:extLst>
      <p:ext uri="{BB962C8B-B14F-4D97-AF65-F5344CB8AC3E}">
        <p14:creationId xmlns:p14="http://schemas.microsoft.com/office/powerpoint/2010/main" val="1423593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3BD22-0A3E-D4F5-6E0A-7736EA0D9F0C}"/>
              </a:ext>
            </a:extLst>
          </p:cNvPr>
          <p:cNvSpPr>
            <a:spLocks noGrp="1"/>
          </p:cNvSpPr>
          <p:nvPr>
            <p:ph type="title"/>
          </p:nvPr>
        </p:nvSpPr>
        <p:spPr/>
        <p:txBody>
          <a:bodyPr/>
          <a:lstStyle/>
          <a:p>
            <a:r>
              <a:rPr lang="en-GB" dirty="0"/>
              <a:t>Overview of Methodology</a:t>
            </a:r>
            <a:br>
              <a:rPr lang="en-GB" dirty="0"/>
            </a:br>
            <a:endParaRPr lang="en-GB" dirty="0"/>
          </a:p>
        </p:txBody>
      </p:sp>
      <p:sp>
        <p:nvSpPr>
          <p:cNvPr id="3" name="Content Placeholder 2">
            <a:extLst>
              <a:ext uri="{FF2B5EF4-FFF2-40B4-BE49-F238E27FC236}">
                <a16:creationId xmlns:a16="http://schemas.microsoft.com/office/drawing/2014/main" id="{F69697CA-EABE-2FB4-EDCE-6F690C643D77}"/>
              </a:ext>
            </a:extLst>
          </p:cNvPr>
          <p:cNvSpPr>
            <a:spLocks noGrp="1"/>
          </p:cNvSpPr>
          <p:nvPr>
            <p:ph idx="1"/>
          </p:nvPr>
        </p:nvSpPr>
        <p:spPr/>
        <p:txBody>
          <a:bodyPr>
            <a:normAutofit lnSpcReduction="10000"/>
          </a:bodyPr>
          <a:lstStyle/>
          <a:p>
            <a:r>
              <a:rPr lang="en-US" dirty="0"/>
              <a:t>The analysis follows a standard supervised classification workflow. After data cleaning and preprocessing, a reduced modelling dataset was constructed to improve stability and interpretability. Exploratory data analysis was used to assess variable distributions, skewness, and correlations.</a:t>
            </a:r>
          </a:p>
          <a:p>
            <a:r>
              <a:rPr lang="en-US" dirty="0"/>
              <a:t>The data were then split into training and testing sets using stratified sampling to preserve class proportions. Multiple classification models were fitted using the training data, and performance was evaluated on unseen test data using confusion matrices and ROC-based metrics. Given the strong class imbalance, balanced accuracy and AUC were </a:t>
            </a:r>
            <a:r>
              <a:rPr lang="en-US" dirty="0" err="1"/>
              <a:t>prioritised</a:t>
            </a:r>
            <a:r>
              <a:rPr lang="en-US" dirty="0"/>
              <a:t> over raw accuracy when comparing models.</a:t>
            </a:r>
          </a:p>
          <a:p>
            <a:endParaRPr lang="en-GB" dirty="0"/>
          </a:p>
        </p:txBody>
      </p:sp>
    </p:spTree>
    <p:extLst>
      <p:ext uri="{BB962C8B-B14F-4D97-AF65-F5344CB8AC3E}">
        <p14:creationId xmlns:p14="http://schemas.microsoft.com/office/powerpoint/2010/main" val="3085838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6CFF4-A1B1-14F8-B585-7D10788BE657}"/>
              </a:ext>
            </a:extLst>
          </p:cNvPr>
          <p:cNvSpPr>
            <a:spLocks noGrp="1"/>
          </p:cNvSpPr>
          <p:nvPr>
            <p:ph type="title"/>
          </p:nvPr>
        </p:nvSpPr>
        <p:spPr/>
        <p:txBody>
          <a:bodyPr/>
          <a:lstStyle/>
          <a:p>
            <a:r>
              <a:rPr lang="en-GB" dirty="0"/>
              <a:t>Comparison of Classification Models</a:t>
            </a:r>
          </a:p>
        </p:txBody>
      </p:sp>
      <p:sp>
        <p:nvSpPr>
          <p:cNvPr id="3" name="Content Placeholder 2">
            <a:extLst>
              <a:ext uri="{FF2B5EF4-FFF2-40B4-BE49-F238E27FC236}">
                <a16:creationId xmlns:a16="http://schemas.microsoft.com/office/drawing/2014/main" id="{BC62DE97-7ACD-4258-E58B-B60B9536064B}"/>
              </a:ext>
            </a:extLst>
          </p:cNvPr>
          <p:cNvSpPr>
            <a:spLocks noGrp="1"/>
          </p:cNvSpPr>
          <p:nvPr>
            <p:ph idx="1"/>
          </p:nvPr>
        </p:nvSpPr>
        <p:spPr/>
        <p:txBody>
          <a:bodyPr>
            <a:normAutofit lnSpcReduction="10000"/>
          </a:bodyPr>
          <a:lstStyle/>
          <a:p>
            <a:r>
              <a:rPr lang="en-US" dirty="0"/>
              <a:t>In line with the assignment requirements, the project compares classical statistical classifiers with more flexible machine learning approaches. Logistic regression and linear discriminant analysis serve as baseline linear models, while k-nearest </a:t>
            </a:r>
            <a:r>
              <a:rPr lang="en-US" dirty="0" err="1"/>
              <a:t>neighbours</a:t>
            </a:r>
            <a:r>
              <a:rPr lang="en-US" dirty="0"/>
              <a:t> provide a non-parametric benchmark. These are compared with a random forest and a feed-forward neural network to assess whether nonlinear and ensemble methods improve predictive performance.</a:t>
            </a:r>
          </a:p>
          <a:p>
            <a:r>
              <a:rPr lang="en-US" dirty="0"/>
              <a:t>By applying all models to the same dataset, preprocessing steps, and evaluation framework, the analysis provides a fair comparison of trade-offs between interpretability, complexity, and performance in the context of predicting hospital readmission.</a:t>
            </a:r>
          </a:p>
          <a:p>
            <a:pPr marL="0" indent="0">
              <a:buNone/>
            </a:pPr>
            <a:endParaRPr lang="en-GB" dirty="0"/>
          </a:p>
        </p:txBody>
      </p:sp>
    </p:spTree>
    <p:extLst>
      <p:ext uri="{BB962C8B-B14F-4D97-AF65-F5344CB8AC3E}">
        <p14:creationId xmlns:p14="http://schemas.microsoft.com/office/powerpoint/2010/main" val="2202921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694</Words>
  <Application>Microsoft Office PowerPoint</Application>
  <PresentationFormat>Widescreen</PresentationFormat>
  <Paragraphs>19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Summarisation of Project</vt:lpstr>
      <vt:lpstr>Motivation and Background</vt:lpstr>
      <vt:lpstr>Research Question</vt:lpstr>
      <vt:lpstr>Overview of the Data</vt:lpstr>
      <vt:lpstr>Overview of Methodology </vt:lpstr>
      <vt:lpstr>Comparison of Classification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Godwins Braimoh</dc:creator>
  <cp:lastModifiedBy>Godwins Braimoh</cp:lastModifiedBy>
  <cp:revision>1</cp:revision>
  <dcterms:created xsi:type="dcterms:W3CDTF">2025-12-19T06:16:26Z</dcterms:created>
  <dcterms:modified xsi:type="dcterms:W3CDTF">2025-12-19T06:29:05Z</dcterms:modified>
</cp:coreProperties>
</file>